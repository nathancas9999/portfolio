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88" r:id="rId7"/>
    <p:sldId id="312" r:id="rId8"/>
    <p:sldId id="313" r:id="rId9"/>
    <p:sldId id="300" r:id="rId10"/>
    <p:sldId id="301" r:id="rId11"/>
    <p:sldId id="303" r:id="rId12"/>
    <p:sldId id="305" r:id="rId13"/>
    <p:sldId id="304" r:id="rId14"/>
    <p:sldId id="302" r:id="rId15"/>
    <p:sldId id="311" r:id="rId16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eu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646" autoAdjust="0"/>
  </p:normalViewPr>
  <p:slideViewPr>
    <p:cSldViewPr snapToGrid="0">
      <p:cViewPr varScale="1">
        <p:scale>
          <a:sx n="69" d="100"/>
          <a:sy n="69" d="100"/>
        </p:scale>
        <p:origin x="66" y="88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52A714CA-BB23-4F17-A1E5-A7E59E550005}" type="datetime1">
              <a:rPr lang="fr-FR" smtClean="0"/>
              <a:t>07/03/2025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EAFF3A6F-DEFA-45E0-9496-BEE7C2C6F3D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7D9FD98B-ABAD-47D0-AEF3-E7E088603B18}" type="datetime1">
              <a:rPr lang="fr-FR" smtClean="0"/>
              <a:t>07/03/2025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F97DC217-DF71-1A49-B3EA-559F1F43B0F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268F4-A16A-835F-65BA-F6A575A0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E9853583-D3AF-26E7-0804-24B5F6233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67DE5B7-C73A-91A4-3C35-65EA5CF82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2B01358-613B-F5A7-345D-E3FCEDE247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9174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EBB47-2939-FB2B-5B71-426D3FADA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DE2F862C-E5B0-41A0-867B-ED2413A63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DF84287-3276-740A-1550-CA671E1F0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ECA4544-E4F4-755F-713E-09BBAD571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3192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94C61-3A7B-0233-0AAF-6509E1E14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7763E5A3-7662-556D-D5E4-2022D7232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114C20B-3932-5672-80A3-7FF93F5C2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2CEECF-CB7B-AE03-3E9D-5C588F900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81679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E117B-05BA-77FA-C330-3082DB6F3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602E50D7-CA47-13AF-6432-220DE9051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482AB3A-5B43-415D-80DC-EB19AA146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7552B4E-3FDF-7492-85C3-15ED045E74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55266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8A44F-42FC-132A-F7CE-996D788AA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451AEB9F-2C68-0EF4-C5ED-F13EFCD88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B411638-3795-1D81-B483-59CC22EFE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31E15D2-EC62-2E37-6383-55CE17E202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4289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45EBB-BB05-8C7A-0DF7-A9B739782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4DCEF77C-27B8-0254-877B-56F8F13AA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0D522E5-BA81-A65F-7ABF-700F6113A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0A63DE7-AA30-A392-EFD8-421DBCFECE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6382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46CE5-41CD-1B07-B291-1964FDEAA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95F8A0AB-6BD2-A84C-9558-5627DD118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2DA50DB-E895-1A54-35BA-FADECC482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DF98344-EC32-8964-2A58-37252F0D95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1972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89EE6-BBDB-E8DE-407D-4E22C25CC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FBC67A9E-9ECD-319E-7C92-B8B55651C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A795E2D-B971-C48A-BD10-91F55C866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6D73DA-E9FF-C1AC-B9C4-B60E6FE77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1245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045BB-8C61-4112-1443-F45A2597F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239C4D3F-AED9-E335-03AE-32D7D18FB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60380C0-6258-5AB9-5122-48A3B3747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92F650-391C-9E3C-9DB9-43C7A85A12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F97DC217-DF71-1A49-B3EA-559F1F43B0FF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69731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e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orme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/>
              </a:p>
            </p:txBody>
          </p:sp>
          <p:sp>
            <p:nvSpPr>
              <p:cNvPr id="16" name="Forme libre 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/>
              </a:p>
            </p:txBody>
          </p:sp>
        </p:grp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28" name="Forme libre 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rtlCol="0" anchor="b">
            <a:noAutofit/>
          </a:bodyPr>
          <a:lstStyle>
            <a:lvl1pPr algn="l">
              <a:defRPr lang="fr-FR" sz="6000" b="1">
                <a:latin typeface="+mj-lt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>
                <a:latin typeface="+mn-lt"/>
              </a:endParaRPr>
            </a:p>
          </p:txBody>
        </p:sp>
        <p:sp>
          <p:nvSpPr>
            <p:cNvPr id="6" name="Forme libre 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e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>
                  <a:latin typeface="+mn-lt"/>
                </a:endParaRPr>
              </a:p>
            </p:txBody>
          </p:sp>
          <p:sp>
            <p:nvSpPr>
              <p:cNvPr id="8" name="Forme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>
                  <a:latin typeface="+mn-lt"/>
                </a:endParaRPr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Autofit/>
          </a:bodyPr>
          <a:lstStyle>
            <a:lvl1pPr>
              <a:defRPr lang="fr-FR" sz="4200" b="1">
                <a:latin typeface="+mj-lt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 rtlCol="0">
            <a:normAutofit/>
          </a:bodyPr>
          <a:lstStyle>
            <a:lvl1pPr marL="0" indent="0">
              <a:buNone/>
              <a:defRPr lang="fr-FR">
                <a:latin typeface="+mn-lt"/>
              </a:defRPr>
            </a:lvl1pPr>
            <a:lvl2pPr marL="457200" indent="0">
              <a:buNone/>
              <a:defRPr lang="fr-FR">
                <a:latin typeface="+mn-lt"/>
              </a:defRPr>
            </a:lvl2pPr>
            <a:lvl3pPr marL="914400" indent="0">
              <a:buNone/>
              <a:defRPr lang="fr-FR">
                <a:latin typeface="+mn-lt"/>
              </a:defRPr>
            </a:lvl3pPr>
            <a:lvl4pPr marL="1371600" indent="0">
              <a:buNone/>
              <a:defRPr lang="fr-FR">
                <a:latin typeface="+mn-lt"/>
              </a:defRPr>
            </a:lvl4pPr>
            <a:lvl5pPr marL="1828800" indent="0">
              <a:buNone/>
              <a:defRPr lang="fr-FR">
                <a:latin typeface="+mn-lt"/>
              </a:defRPr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fr-F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fr-FR"/>
              <a:t>08/09/20XX</a:t>
            </a:r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fr-F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fr-FR" dirty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fr-F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image de 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>
                <a:latin typeface="+mn-lt"/>
              </a:endParaRPr>
            </a:p>
          </p:txBody>
        </p:sp>
        <p:sp>
          <p:nvSpPr>
            <p:cNvPr id="6" name="Forme libre 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e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>
                  <a:latin typeface="+mn-lt"/>
                </a:endParaRPr>
              </a:p>
            </p:txBody>
          </p:sp>
          <p:sp>
            <p:nvSpPr>
              <p:cNvPr id="8" name="Forme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>
                  <a:latin typeface="+mn-lt"/>
                </a:endParaRPr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rtlCol="0" anchor="b" anchorCtr="0">
            <a:noAutofit/>
          </a:bodyPr>
          <a:lstStyle>
            <a:lvl1pPr>
              <a:defRPr lang="fr-FR" sz="6000" b="1">
                <a:latin typeface="+mj-lt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rtlCol="0" anchor="t" anchorCtr="0">
            <a:noAutofit/>
          </a:bodyPr>
          <a:lstStyle>
            <a:lvl1pPr marL="0" indent="0" algn="l">
              <a:buNone/>
              <a:defRPr lang="fr-FR" sz="3200">
                <a:latin typeface="+mn-lt"/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  <p:sp>
        <p:nvSpPr>
          <p:cNvPr id="15" name="Espace réservé d’image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fr-F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fr-FR"/>
              <a:t>08/09/20XX</a:t>
            </a:r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fr-F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fr-FR" dirty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fr-F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 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</p:grpSp>
      <p:sp>
        <p:nvSpPr>
          <p:cNvPr id="13" name="Titr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rtlCol="0" anchor="b">
            <a:noAutofit/>
          </a:bodyPr>
          <a:lstStyle>
            <a:lvl1pPr>
              <a:defRPr lang="fr-FR" sz="4200" b="1">
                <a:latin typeface="+mj-lt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 rtlCol="0"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fr-FR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fr-FR"/>
              <a:t>08/09/20XX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fr-FR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fr-FR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 de la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orme libre 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orme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/>
              </a:p>
            </p:txBody>
          </p:sp>
          <p:sp>
            <p:nvSpPr>
              <p:cNvPr id="16" name="Forme libre 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/>
              </a:p>
            </p:txBody>
          </p:sp>
        </p:grpSp>
        <p:sp>
          <p:nvSpPr>
            <p:cNvPr id="17" name="Forme libre 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18" name="Forme libre 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rtlCol="0" anchor="b">
            <a:noAutofit/>
          </a:bodyPr>
          <a:lstStyle>
            <a:lvl1pPr algn="l">
              <a:defRPr lang="fr-FR"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rtlCol="0" anchor="ctr" anchorCtr="0">
            <a:noAutofit/>
          </a:bodyPr>
          <a:lstStyle>
            <a:lvl1pPr marL="0" indent="0" algn="l">
              <a:buNone/>
              <a:defRPr lang="fr-FR"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de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e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6" name="Forme libre 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e lib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>
                  <a:latin typeface="+mn-lt"/>
                </a:endParaRPr>
              </a:p>
            </p:txBody>
          </p:sp>
          <p:sp>
            <p:nvSpPr>
              <p:cNvPr id="8" name="Forme lib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>
                  <a:latin typeface="+mn-lt"/>
                </a:endParaRPr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Autofit/>
          </a:bodyPr>
          <a:lstStyle>
            <a:lvl1pPr>
              <a:defRPr lang="fr-FR" sz="4200" b="1">
                <a:latin typeface="+mj-lt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fr-FR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latin typeface="+mn-lt"/>
              </a:defRPr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fr-FR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latin typeface="+mn-lt"/>
              </a:defRPr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fr-F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fr-FR"/>
              <a:t>08/09/20XX</a:t>
            </a:r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fr-F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fr-FR" dirty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fr-F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2 conten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orme lib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5" name="Forme lib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rtlCol="0" anchor="b">
            <a:noAutofit/>
          </a:bodyPr>
          <a:lstStyle>
            <a:lvl1pPr>
              <a:defRPr lang="fr-FR" sz="42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lang="fr-FR"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lang="fr-FR"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lang="fr-FR"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lang="fr-FR"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lang="fr-FR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fr-FR"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fr-FR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fr-F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fr-FR"/>
              <a:t>08/09/20XX</a:t>
            </a:r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fr-F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fr-FR" dirty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fr-F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phiqu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orme libre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14" name="Forme libre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rtlCol="0" anchor="b">
            <a:noAutofit/>
          </a:bodyPr>
          <a:lstStyle>
            <a:lvl1pPr>
              <a:defRPr lang="fr-FR" sz="4200" b="1">
                <a:latin typeface="+mj-lt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 lang="fr-FR">
                <a:latin typeface="+mn-lt"/>
              </a:defRPr>
            </a:lvl1pPr>
            <a:lvl2pPr marL="457200" indent="0">
              <a:buNone/>
              <a:defRPr lang="fr-FR">
                <a:latin typeface="+mn-lt"/>
              </a:defRPr>
            </a:lvl2pPr>
            <a:lvl3pPr marL="914400" indent="0">
              <a:buNone/>
              <a:defRPr lang="fr-FR">
                <a:latin typeface="+mn-lt"/>
              </a:defRPr>
            </a:lvl3pPr>
            <a:lvl4pPr marL="1371600" indent="0">
              <a:buNone/>
              <a:defRPr lang="fr-FR">
                <a:latin typeface="+mn-lt"/>
              </a:defRPr>
            </a:lvl4pPr>
            <a:lvl5pPr marL="1828800" indent="0">
              <a:buNone/>
              <a:defRPr lang="fr-FR">
                <a:latin typeface="+mn-lt"/>
              </a:defRPr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fr-F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fr-FR"/>
              <a:t>08/09/20XX</a:t>
            </a:r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fr-F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fr-FR" dirty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fr-F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orme lib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/>
              </a:p>
            </p:txBody>
          </p:sp>
          <p:sp>
            <p:nvSpPr>
              <p:cNvPr id="16" name="Forme libre 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/>
              </a:p>
            </p:txBody>
          </p:sp>
        </p:grp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sp>
          <p:nvSpPr>
            <p:cNvPr id="17" name="Forme libre 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rtlCol="0" anchor="b">
            <a:noAutofit/>
          </a:bodyPr>
          <a:lstStyle>
            <a:lvl1pPr algn="l">
              <a:defRPr lang="fr-FR" sz="6000" b="1">
                <a:latin typeface="+mj-lt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rtlCol="0" anchor="t" anchorCtr="0">
            <a:normAutofit/>
          </a:bodyPr>
          <a:lstStyle>
            <a:lvl1pPr marL="0" indent="0" algn="l">
              <a:buNone/>
              <a:defRPr lang="fr-FR" sz="2800">
                <a:latin typeface="+mn-lt"/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fr-FR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fr-FR"/>
              <a:t>08/09/20XX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fr-FR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fr-FR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4" r:id="rId3"/>
    <p:sldLayoutId id="2147483671" r:id="rId4"/>
    <p:sldLayoutId id="2147483659" r:id="rId5"/>
    <p:sldLayoutId id="2147483668" r:id="rId6"/>
    <p:sldLayoutId id="2147483669" r:id="rId7"/>
    <p:sldLayoutId id="2147483661" r:id="rId8"/>
    <p:sldLayoutId id="2147483666" r:id="rId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fr-FR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3.xml"/><Relationship Id="rId7" Type="http://schemas.openxmlformats.org/officeDocument/2006/relationships/slide" Target="slide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image" Target="../media/image1.png"/><Relationship Id="rId5" Type="http://schemas.openxmlformats.org/officeDocument/2006/relationships/slide" Target="slide6.xml"/><Relationship Id="rId10" Type="http://schemas.openxmlformats.org/officeDocument/2006/relationships/slide" Target="slide11.xml"/><Relationship Id="rId4" Type="http://schemas.openxmlformats.org/officeDocument/2006/relationships/slide" Target="slide4.xml"/><Relationship Id="rId9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8800" dirty="0"/>
              <a:t>TP–Samba</a:t>
            </a:r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9E7668C2-D286-0BFD-F233-A7274E20EB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00" t="31000" r="13400" b="31200"/>
          <a:stretch/>
        </p:blipFill>
        <p:spPr>
          <a:xfrm>
            <a:off x="133350" y="6286578"/>
            <a:ext cx="866775" cy="447597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87C2318A-6159-9B84-8432-94CA2F9584F3}"/>
              </a:ext>
            </a:extLst>
          </p:cNvPr>
          <p:cNvSpPr txBox="1"/>
          <p:nvPr/>
        </p:nvSpPr>
        <p:spPr>
          <a:xfrm>
            <a:off x="10456752" y="6464981"/>
            <a:ext cx="173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Castro Nathan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-343992"/>
            <a:ext cx="9779183" cy="174441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>
            <a:defPPr>
              <a:defRPr lang="fr-FR"/>
            </a:defPPr>
          </a:lstStyle>
          <a:p>
            <a:pPr rtl="0"/>
            <a:r>
              <a:rPr lang="fr-FR" sz="2800" dirty="0">
                <a:hlinkClick r:id="rId3" action="ppaction://hlinksldjump"/>
              </a:rPr>
              <a:t>Configurer le </a:t>
            </a:r>
            <a:r>
              <a:rPr lang="fr-FR" sz="2800" dirty="0" err="1">
                <a:hlinkClick r:id="rId3" action="ppaction://hlinksldjump"/>
              </a:rPr>
              <a:t>hostname</a:t>
            </a:r>
            <a:endParaRPr lang="fr-FR" sz="2800" dirty="0"/>
          </a:p>
          <a:p>
            <a:pPr rtl="0"/>
            <a:r>
              <a:rPr lang="fr-FR" dirty="0">
                <a:hlinkClick r:id="rId4" action="ppaction://hlinksldjump"/>
              </a:rPr>
              <a:t>t</a:t>
            </a:r>
            <a:r>
              <a:rPr lang="fr-FR" sz="2800" dirty="0">
                <a:hlinkClick r:id="rId4" action="ppaction://hlinksldjump"/>
              </a:rPr>
              <a:t>estparm</a:t>
            </a:r>
            <a:endParaRPr lang="fr-FR" sz="2800" dirty="0"/>
          </a:p>
          <a:p>
            <a:pPr rtl="0"/>
            <a:r>
              <a:rPr lang="fr-FR" sz="2800" dirty="0">
                <a:hlinkClick r:id="rId5" action="ppaction://hlinksldjump"/>
              </a:rPr>
              <a:t>Créer les groupes</a:t>
            </a:r>
            <a:endParaRPr lang="fr-FR" sz="2800" dirty="0"/>
          </a:p>
          <a:p>
            <a:pPr rtl="0"/>
            <a:r>
              <a:rPr lang="fr-FR" sz="2800" dirty="0">
                <a:hlinkClick r:id="rId6" action="ppaction://hlinksldjump"/>
              </a:rPr>
              <a:t>Créer les utilisateurs et les ajouter aux groupes</a:t>
            </a:r>
            <a:endParaRPr lang="fr-FR" sz="2800" dirty="0"/>
          </a:p>
          <a:p>
            <a:pPr rtl="0"/>
            <a:r>
              <a:rPr lang="fr-FR" sz="2800" dirty="0">
                <a:hlinkClick r:id="rId7" action="ppaction://hlinksldjump"/>
              </a:rPr>
              <a:t>Créer les répertoires et définir les permissions</a:t>
            </a:r>
            <a:endParaRPr lang="fr-FR" sz="2800" dirty="0"/>
          </a:p>
          <a:p>
            <a:pPr rtl="0"/>
            <a:r>
              <a:rPr lang="fr-FR" sz="2800" dirty="0">
                <a:hlinkClick r:id="rId8" action="ppaction://hlinksldjump"/>
              </a:rPr>
              <a:t>Mettre à jour et installer Samba </a:t>
            </a:r>
            <a:endParaRPr lang="fr-FR" sz="2800" dirty="0"/>
          </a:p>
          <a:p>
            <a:pPr rtl="0"/>
            <a:r>
              <a:rPr lang="fr-FR" sz="2800" dirty="0">
                <a:hlinkClick r:id="rId9" action="ppaction://hlinksldjump"/>
              </a:rPr>
              <a:t>Configurer Samba</a:t>
            </a:r>
            <a:endParaRPr lang="fr-FR" sz="2800" dirty="0"/>
          </a:p>
          <a:p>
            <a:pPr rtl="0"/>
            <a:r>
              <a:rPr lang="fr-FR" sz="2800" dirty="0">
                <a:hlinkClick r:id="rId10" action="ppaction://hlinksldjump"/>
              </a:rPr>
              <a:t>Ajouter les utilisateurs Samba </a:t>
            </a:r>
            <a:endParaRPr lang="fr-FR" dirty="0"/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E7DC60F7-87D8-3EED-8AFD-51EB526D62B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3400" t="31000" r="13400" b="31200"/>
          <a:stretch/>
        </p:blipFill>
        <p:spPr>
          <a:xfrm>
            <a:off x="133350" y="6286578"/>
            <a:ext cx="866775" cy="44759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33DEBB8-41AE-65DB-6F38-E8F74BF7CA30}"/>
              </a:ext>
            </a:extLst>
          </p:cNvPr>
          <p:cNvSpPr txBox="1"/>
          <p:nvPr/>
        </p:nvSpPr>
        <p:spPr>
          <a:xfrm>
            <a:off x="10456752" y="6464981"/>
            <a:ext cx="173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Castro Nathan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1CB49245-4868-031A-3DE9-D6AEE1FE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00" t="31000" r="13400" b="31200"/>
          <a:stretch/>
        </p:blipFill>
        <p:spPr>
          <a:xfrm>
            <a:off x="133350" y="6286578"/>
            <a:ext cx="866775" cy="447597"/>
          </a:xfrm>
          <a:prstGeom prst="rect">
            <a:avLst/>
          </a:prstGeom>
        </p:spPr>
      </p:pic>
      <p:sp>
        <p:nvSpPr>
          <p:cNvPr id="8" name="Titre 7">
            <a:extLst>
              <a:ext uri="{FF2B5EF4-FFF2-40B4-BE49-F238E27FC236}">
                <a16:creationId xmlns:a16="http://schemas.microsoft.com/office/drawing/2014/main" id="{D44B3764-22AD-B491-B4A3-A16A54D36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125" y="457200"/>
            <a:ext cx="9936478" cy="1000408"/>
          </a:xfrm>
        </p:spPr>
        <p:txBody>
          <a:bodyPr/>
          <a:lstStyle/>
          <a:p>
            <a:r>
              <a:rPr lang="fr-FR" sz="3600" dirty="0"/>
              <a:t>Configurer le </a:t>
            </a:r>
            <a:r>
              <a:rPr lang="fr-FR" sz="3600" dirty="0" err="1"/>
              <a:t>hostname</a:t>
            </a:r>
            <a:endParaRPr lang="fr-FR" sz="36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C4C89D1-1DA6-B9D8-B457-291BEC5B8AB0}"/>
              </a:ext>
            </a:extLst>
          </p:cNvPr>
          <p:cNvSpPr txBox="1"/>
          <p:nvPr/>
        </p:nvSpPr>
        <p:spPr>
          <a:xfrm>
            <a:off x="10456752" y="6464981"/>
            <a:ext cx="173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Castro Nathan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1AD0B8E-7335-57F7-25D3-DED9570CBD3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27762" y="1813437"/>
            <a:ext cx="29567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sudo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nano /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etc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/hosts</a:t>
            </a:r>
            <a:endParaRPr kumimoji="0" lang="fr-FR" altLang="fr-F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E4F0FE2-1A9A-34AC-821B-3693E33BC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8754" y="2746774"/>
            <a:ext cx="4889863" cy="203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1875E-37BB-8CFA-217D-428B50DA3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4AD61DCF-9825-0FE0-CB19-04CBB42531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00" t="31000" r="13400" b="31200"/>
          <a:stretch/>
        </p:blipFill>
        <p:spPr>
          <a:xfrm>
            <a:off x="133350" y="6286578"/>
            <a:ext cx="866775" cy="447597"/>
          </a:xfrm>
          <a:prstGeom prst="rect">
            <a:avLst/>
          </a:prstGeom>
        </p:spPr>
      </p:pic>
      <p:sp>
        <p:nvSpPr>
          <p:cNvPr id="8" name="Titre 7">
            <a:extLst>
              <a:ext uri="{FF2B5EF4-FFF2-40B4-BE49-F238E27FC236}">
                <a16:creationId xmlns:a16="http://schemas.microsoft.com/office/drawing/2014/main" id="{A833EE24-B2A4-72F0-6D02-5BD90172D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62" y="457200"/>
            <a:ext cx="9936478" cy="1000408"/>
          </a:xfrm>
        </p:spPr>
        <p:txBody>
          <a:bodyPr/>
          <a:lstStyle/>
          <a:p>
            <a:r>
              <a:rPr lang="fr-FR" sz="4400" dirty="0"/>
              <a:t>testparm</a:t>
            </a:r>
            <a:endParaRPr lang="fr-FR" sz="36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78A34C2-7A83-7FCE-F57F-C56E9E814E7C}"/>
              </a:ext>
            </a:extLst>
          </p:cNvPr>
          <p:cNvSpPr txBox="1"/>
          <p:nvPr/>
        </p:nvSpPr>
        <p:spPr>
          <a:xfrm>
            <a:off x="10456752" y="6464981"/>
            <a:ext cx="173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Castro Nathan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A2D887B-37AD-1D90-89E2-9B08E6FC544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27125" y="1726123"/>
            <a:ext cx="952702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nano /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etc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/samba/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smb.conf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sz="2400" b="1" dirty="0"/>
              <a:t>La section pour les partages "homes"</a:t>
            </a:r>
            <a:endParaRPr kumimoji="0" lang="fr-FR" altLang="fr-FR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[homes]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comment = Home Directories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browseable</a:t>
            </a:r>
            <a:r>
              <a:rPr kumimoji="0" lang="en-US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no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writable = yes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fr-FR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21374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77181-3726-9638-55CE-CA4634F83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EDEC5255-FCAE-D1DD-8E22-5C6DAE775D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00" t="31000" r="13400" b="31200"/>
          <a:stretch/>
        </p:blipFill>
        <p:spPr>
          <a:xfrm>
            <a:off x="133350" y="6286578"/>
            <a:ext cx="866775" cy="447597"/>
          </a:xfrm>
          <a:prstGeom prst="rect">
            <a:avLst/>
          </a:prstGeom>
        </p:spPr>
      </p:pic>
      <p:sp>
        <p:nvSpPr>
          <p:cNvPr id="8" name="Titre 7">
            <a:extLst>
              <a:ext uri="{FF2B5EF4-FFF2-40B4-BE49-F238E27FC236}">
                <a16:creationId xmlns:a16="http://schemas.microsoft.com/office/drawing/2014/main" id="{64BEA3C5-A075-1BBB-AB25-56F353999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762" y="457200"/>
            <a:ext cx="9936478" cy="1000408"/>
          </a:xfrm>
        </p:spPr>
        <p:txBody>
          <a:bodyPr/>
          <a:lstStyle/>
          <a:p>
            <a:r>
              <a:rPr lang="fr-FR" sz="4400" dirty="0"/>
              <a:t>testparm</a:t>
            </a:r>
            <a:endParaRPr lang="fr-FR" sz="36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FEBD64E-4356-8D87-C70A-3BBE248F43E2}"/>
              </a:ext>
            </a:extLst>
          </p:cNvPr>
          <p:cNvSpPr txBox="1"/>
          <p:nvPr/>
        </p:nvSpPr>
        <p:spPr>
          <a:xfrm>
            <a:off x="10456752" y="6464981"/>
            <a:ext cx="173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Castro Nathan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A75B2BE-6C8A-8120-04E6-7AE54493413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27125" y="2280121"/>
            <a:ext cx="952702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testparm -s &gt; /</a:t>
            </a:r>
            <a:r>
              <a:rPr kumimoji="0" lang="fr-FR" altLang="fr-F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tmp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/testparm.txt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fr-FR" sz="2400" dirty="0"/>
              <a:t>less /</a:t>
            </a:r>
            <a:r>
              <a:rPr lang="en-US" altLang="fr-FR" sz="2400" dirty="0" err="1"/>
              <a:t>tmp</a:t>
            </a:r>
            <a:r>
              <a:rPr lang="en-US" altLang="fr-FR" sz="2400" dirty="0"/>
              <a:t>/testparm.txt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fr-FR" sz="2400" dirty="0" err="1"/>
              <a:t>sudo</a:t>
            </a:r>
            <a:r>
              <a:rPr lang="en-US" altLang="fr-FR" sz="2400" dirty="0"/>
              <a:t> service </a:t>
            </a:r>
            <a:r>
              <a:rPr lang="en-US" altLang="fr-FR" sz="2400" dirty="0" err="1"/>
              <a:t>smbd</a:t>
            </a:r>
            <a:r>
              <a:rPr lang="en-US" altLang="fr-FR" sz="2400" dirty="0"/>
              <a:t> restart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fr-FR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33761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E8A91-6718-E7D1-D140-B381EC2B4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C79EF2C6-B4DE-A252-AAFC-75F676CB67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761" y="2335795"/>
            <a:ext cx="9936478" cy="182880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2400" dirty="0" err="1"/>
              <a:t>sudo</a:t>
            </a:r>
            <a:r>
              <a:rPr lang="fr-FR" sz="2400" dirty="0"/>
              <a:t> </a:t>
            </a:r>
            <a:r>
              <a:rPr lang="fr-FR" sz="2400" dirty="0" err="1"/>
              <a:t>groupadd</a:t>
            </a:r>
            <a:r>
              <a:rPr lang="fr-FR" sz="2400" dirty="0"/>
              <a:t> profs</a:t>
            </a:r>
          </a:p>
          <a:p>
            <a:pPr rtl="0"/>
            <a:r>
              <a:rPr lang="fr-FR" sz="2400" dirty="0" err="1"/>
              <a:t>sudo</a:t>
            </a:r>
            <a:r>
              <a:rPr lang="fr-FR" sz="2400" dirty="0"/>
              <a:t> </a:t>
            </a:r>
            <a:r>
              <a:rPr lang="fr-FR" sz="2400" dirty="0" err="1"/>
              <a:t>groupadd</a:t>
            </a:r>
            <a:r>
              <a:rPr lang="fr-FR" sz="2400" dirty="0"/>
              <a:t> </a:t>
            </a:r>
            <a:r>
              <a:rPr lang="fr-FR" sz="2400" dirty="0" err="1"/>
              <a:t>etudiants</a:t>
            </a:r>
            <a:endParaRPr lang="fr-FR" sz="2400" dirty="0"/>
          </a:p>
          <a:p>
            <a:pPr rtl="0"/>
            <a:r>
              <a:rPr lang="fr-FR" sz="2400" dirty="0" err="1"/>
              <a:t>getent</a:t>
            </a:r>
            <a:r>
              <a:rPr lang="fr-FR" sz="2400" dirty="0"/>
              <a:t> group</a:t>
            </a:r>
          </a:p>
          <a:p>
            <a:pPr rtl="0"/>
            <a:endParaRPr lang="fr-FR" sz="2400" dirty="0"/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805BF063-6897-1400-743F-75DF170860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00" t="31000" r="13400" b="31200"/>
          <a:stretch/>
        </p:blipFill>
        <p:spPr>
          <a:xfrm>
            <a:off x="133350" y="6286578"/>
            <a:ext cx="866775" cy="447597"/>
          </a:xfrm>
          <a:prstGeom prst="rect">
            <a:avLst/>
          </a:prstGeom>
        </p:spPr>
      </p:pic>
      <p:sp>
        <p:nvSpPr>
          <p:cNvPr id="8" name="Titre 7">
            <a:extLst>
              <a:ext uri="{FF2B5EF4-FFF2-40B4-BE49-F238E27FC236}">
                <a16:creationId xmlns:a16="http://schemas.microsoft.com/office/drawing/2014/main" id="{533FE6CD-8AF2-BDAC-2446-827FA6902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240" y="457200"/>
            <a:ext cx="10177000" cy="1000408"/>
          </a:xfrm>
        </p:spPr>
        <p:txBody>
          <a:bodyPr/>
          <a:lstStyle/>
          <a:p>
            <a:r>
              <a:rPr lang="fr-FR" sz="4000" dirty="0"/>
              <a:t>Créer les groupes</a:t>
            </a:r>
            <a:endParaRPr lang="fr-FR" sz="115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3CDD85A-DE39-9B31-A4AA-0DF769840086}"/>
              </a:ext>
            </a:extLst>
          </p:cNvPr>
          <p:cNvSpPr txBox="1"/>
          <p:nvPr/>
        </p:nvSpPr>
        <p:spPr>
          <a:xfrm>
            <a:off x="10456752" y="6464981"/>
            <a:ext cx="173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Castro Nathan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8608AE1-6D58-CD20-516A-4B9585CEE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5980" y="2809125"/>
            <a:ext cx="5341868" cy="61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185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5AB22-E218-3550-0A83-BAF4591BE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A72C323D-8C29-84EF-69BA-BC4297027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6556" y="1966462"/>
            <a:ext cx="9936478" cy="295365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adduser</a:t>
            </a:r>
            <a:r>
              <a:rPr lang="fr-FR" sz="1400" dirty="0"/>
              <a:t> maxime</a:t>
            </a:r>
          </a:p>
          <a:p>
            <a:pPr rtl="0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adduser</a:t>
            </a:r>
            <a:r>
              <a:rPr lang="fr-FR" sz="1400" dirty="0"/>
              <a:t> maxime profs</a:t>
            </a:r>
          </a:p>
          <a:p>
            <a:pPr rtl="0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adduser</a:t>
            </a:r>
            <a:r>
              <a:rPr lang="fr-FR" sz="1400" dirty="0"/>
              <a:t> </a:t>
            </a:r>
            <a:r>
              <a:rPr lang="fr-FR" sz="1400" dirty="0" err="1"/>
              <a:t>arnaud</a:t>
            </a:r>
            <a:endParaRPr lang="fr-FR" sz="1400" dirty="0"/>
          </a:p>
          <a:p>
            <a:pPr rtl="0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adduser</a:t>
            </a:r>
            <a:r>
              <a:rPr lang="fr-FR" sz="1400" dirty="0"/>
              <a:t> </a:t>
            </a:r>
            <a:r>
              <a:rPr lang="fr-FR" sz="1400" dirty="0" err="1"/>
              <a:t>arnaud</a:t>
            </a:r>
            <a:r>
              <a:rPr lang="fr-FR" sz="1400" dirty="0"/>
              <a:t> profs</a:t>
            </a:r>
          </a:p>
          <a:p>
            <a:pPr rtl="0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adduser</a:t>
            </a:r>
            <a:r>
              <a:rPr lang="fr-FR" sz="1400" dirty="0"/>
              <a:t> etu1</a:t>
            </a:r>
          </a:p>
          <a:p>
            <a:pPr rtl="0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adduser</a:t>
            </a:r>
            <a:r>
              <a:rPr lang="fr-FR" sz="1400" dirty="0"/>
              <a:t> etu1 </a:t>
            </a:r>
            <a:r>
              <a:rPr lang="fr-FR" sz="1400" dirty="0" err="1"/>
              <a:t>etudiants</a:t>
            </a:r>
            <a:endParaRPr lang="fr-FR" sz="1400" dirty="0"/>
          </a:p>
          <a:p>
            <a:pPr rtl="0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adduser</a:t>
            </a:r>
            <a:r>
              <a:rPr lang="fr-FR" sz="1400" dirty="0"/>
              <a:t> etu2</a:t>
            </a:r>
          </a:p>
          <a:p>
            <a:pPr rtl="0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adduser</a:t>
            </a:r>
            <a:r>
              <a:rPr lang="fr-FR" sz="1400" dirty="0"/>
              <a:t> etu2 </a:t>
            </a:r>
            <a:r>
              <a:rPr lang="fr-FR" sz="1400" dirty="0" err="1"/>
              <a:t>etudiants</a:t>
            </a:r>
            <a:endParaRPr lang="fr-FR" sz="1400" dirty="0"/>
          </a:p>
          <a:p>
            <a:pPr rtl="0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adduser</a:t>
            </a:r>
            <a:r>
              <a:rPr lang="fr-FR" sz="1400" dirty="0"/>
              <a:t> etu3</a:t>
            </a:r>
          </a:p>
          <a:p>
            <a:pPr rtl="0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adduser</a:t>
            </a:r>
            <a:r>
              <a:rPr lang="fr-FR" sz="1400" dirty="0"/>
              <a:t> etu3 </a:t>
            </a:r>
            <a:r>
              <a:rPr lang="fr-FR" sz="1400" dirty="0" err="1"/>
              <a:t>etudiants</a:t>
            </a:r>
            <a:endParaRPr lang="fr-FR" sz="1400" dirty="0"/>
          </a:p>
          <a:p>
            <a:pPr rtl="0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adduser</a:t>
            </a:r>
            <a:r>
              <a:rPr lang="fr-FR" sz="1400" dirty="0"/>
              <a:t> etu4</a:t>
            </a:r>
          </a:p>
          <a:p>
            <a:pPr rtl="0"/>
            <a:r>
              <a:rPr lang="fr-FR" sz="1400" dirty="0" err="1"/>
              <a:t>sudo</a:t>
            </a:r>
            <a:r>
              <a:rPr lang="fr-FR" sz="1400" dirty="0"/>
              <a:t> </a:t>
            </a:r>
            <a:r>
              <a:rPr lang="fr-FR" sz="1400" dirty="0" err="1"/>
              <a:t>adduser</a:t>
            </a:r>
            <a:r>
              <a:rPr lang="fr-FR" sz="1400" dirty="0"/>
              <a:t> etu4 </a:t>
            </a:r>
            <a:r>
              <a:rPr lang="fr-FR" sz="1400" dirty="0" err="1"/>
              <a:t>etudiants</a:t>
            </a:r>
            <a:endParaRPr lang="fr-FR" sz="1400" dirty="0"/>
          </a:p>
          <a:p>
            <a:pPr rtl="0"/>
            <a:r>
              <a:rPr lang="fr-FR" sz="1400" dirty="0" err="1"/>
              <a:t>getent</a:t>
            </a:r>
            <a:r>
              <a:rPr lang="fr-FR" sz="1400" dirty="0"/>
              <a:t> </a:t>
            </a:r>
            <a:r>
              <a:rPr lang="fr-FR" sz="1400" dirty="0" err="1"/>
              <a:t>passwd</a:t>
            </a:r>
            <a:endParaRPr lang="fr-FR" sz="1400" dirty="0"/>
          </a:p>
          <a:p>
            <a:pPr rtl="0"/>
            <a:endParaRPr lang="fr-FR" sz="2400" dirty="0"/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BD4BFF5D-57C6-7154-C222-24C958F7D9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00" t="31000" r="13400" b="31200"/>
          <a:stretch/>
        </p:blipFill>
        <p:spPr>
          <a:xfrm>
            <a:off x="133350" y="6286578"/>
            <a:ext cx="866775" cy="447597"/>
          </a:xfrm>
          <a:prstGeom prst="rect">
            <a:avLst/>
          </a:prstGeom>
        </p:spPr>
      </p:pic>
      <p:sp>
        <p:nvSpPr>
          <p:cNvPr id="8" name="Titre 7">
            <a:extLst>
              <a:ext uri="{FF2B5EF4-FFF2-40B4-BE49-F238E27FC236}">
                <a16:creationId xmlns:a16="http://schemas.microsoft.com/office/drawing/2014/main" id="{D26CC6C2-2006-30AF-C426-6D0246B91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240" y="457200"/>
            <a:ext cx="10177000" cy="1000408"/>
          </a:xfrm>
        </p:spPr>
        <p:txBody>
          <a:bodyPr/>
          <a:lstStyle/>
          <a:p>
            <a:r>
              <a:rPr lang="fr-FR" sz="3600" dirty="0"/>
              <a:t>Créer les utilisateurs et les ajouter aux groupes</a:t>
            </a:r>
            <a:endParaRPr lang="fr-FR" sz="96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450DCFE-7A96-6F26-AFA3-C6E3EE530FEF}"/>
              </a:ext>
            </a:extLst>
          </p:cNvPr>
          <p:cNvSpPr txBox="1"/>
          <p:nvPr/>
        </p:nvSpPr>
        <p:spPr>
          <a:xfrm>
            <a:off x="10456752" y="6464981"/>
            <a:ext cx="173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Castro Nathan</a:t>
            </a:r>
          </a:p>
        </p:txBody>
      </p:sp>
    </p:spTree>
    <p:extLst>
      <p:ext uri="{BB962C8B-B14F-4D97-AF65-F5344CB8AC3E}">
        <p14:creationId xmlns:p14="http://schemas.microsoft.com/office/powerpoint/2010/main" val="2552218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07E1D-7938-25F4-9375-DAB6CC793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1DA1BE64-3BFA-3D9A-71AF-E6C62C987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761" y="2335795"/>
            <a:ext cx="9936478" cy="182880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2000" dirty="0" err="1"/>
              <a:t>sudo</a:t>
            </a:r>
            <a:r>
              <a:rPr lang="fr-FR" sz="2000" dirty="0"/>
              <a:t> </a:t>
            </a:r>
            <a:r>
              <a:rPr lang="fr-FR" sz="2000" dirty="0" err="1"/>
              <a:t>mkdir</a:t>
            </a:r>
            <a:r>
              <a:rPr lang="fr-FR" sz="2000" dirty="0"/>
              <a:t> /home/archives</a:t>
            </a:r>
          </a:p>
          <a:p>
            <a:pPr rtl="0"/>
            <a:r>
              <a:rPr lang="fr-FR" sz="2000" dirty="0" err="1"/>
              <a:t>sudo</a:t>
            </a:r>
            <a:r>
              <a:rPr lang="fr-FR" sz="2000" dirty="0"/>
              <a:t> </a:t>
            </a:r>
            <a:r>
              <a:rPr lang="fr-FR" sz="2000" dirty="0" err="1"/>
              <a:t>mkdir</a:t>
            </a:r>
            <a:r>
              <a:rPr lang="fr-FR" sz="2000" dirty="0"/>
              <a:t> /home/commun</a:t>
            </a:r>
          </a:p>
          <a:p>
            <a:pPr rtl="0"/>
            <a:r>
              <a:rPr lang="fr-FR" sz="2000" dirty="0" err="1"/>
              <a:t>sudo</a:t>
            </a:r>
            <a:r>
              <a:rPr lang="fr-FR" sz="2000" dirty="0"/>
              <a:t> chmod 775 /home/archives</a:t>
            </a:r>
          </a:p>
          <a:p>
            <a:pPr rtl="0"/>
            <a:r>
              <a:rPr lang="fr-FR" sz="2000" dirty="0" err="1"/>
              <a:t>sudo</a:t>
            </a:r>
            <a:r>
              <a:rPr lang="fr-FR" sz="2000" dirty="0"/>
              <a:t> chmod 777 /home/commun</a:t>
            </a:r>
          </a:p>
          <a:p>
            <a:pPr rtl="0"/>
            <a:r>
              <a:rPr lang="fr-FR" sz="2000" dirty="0" err="1"/>
              <a:t>sudo</a:t>
            </a:r>
            <a:r>
              <a:rPr lang="fr-FR" sz="2000" dirty="0"/>
              <a:t> </a:t>
            </a:r>
            <a:r>
              <a:rPr lang="fr-FR" sz="2000" dirty="0" err="1"/>
              <a:t>chown</a:t>
            </a:r>
            <a:r>
              <a:rPr lang="fr-FR" sz="2000" dirty="0"/>
              <a:t> </a:t>
            </a:r>
            <a:r>
              <a:rPr lang="fr-FR" sz="2000" dirty="0" err="1"/>
              <a:t>root:profs</a:t>
            </a:r>
            <a:r>
              <a:rPr lang="fr-FR" sz="2000" dirty="0"/>
              <a:t> /home/archives</a:t>
            </a:r>
          </a:p>
          <a:p>
            <a:pPr rtl="0"/>
            <a:r>
              <a:rPr lang="fr-FR" sz="2000" dirty="0" err="1"/>
              <a:t>sudo</a:t>
            </a:r>
            <a:r>
              <a:rPr lang="fr-FR" sz="2000" dirty="0"/>
              <a:t> </a:t>
            </a:r>
            <a:r>
              <a:rPr lang="fr-FR" sz="2000" dirty="0" err="1"/>
              <a:t>chown</a:t>
            </a:r>
            <a:r>
              <a:rPr lang="fr-FR" sz="2000" dirty="0"/>
              <a:t> </a:t>
            </a:r>
            <a:r>
              <a:rPr lang="fr-FR" sz="2000" dirty="0" err="1"/>
              <a:t>root:etudiants</a:t>
            </a:r>
            <a:r>
              <a:rPr lang="fr-FR" sz="2000" dirty="0"/>
              <a:t> /home/commun</a:t>
            </a:r>
          </a:p>
          <a:p>
            <a:pPr rtl="0"/>
            <a:r>
              <a:rPr lang="fr-FR" sz="2000" dirty="0"/>
              <a:t>ls -l /home</a:t>
            </a:r>
          </a:p>
          <a:p>
            <a:pPr rtl="0"/>
            <a:endParaRPr lang="fr-FR" sz="2400" dirty="0"/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A8F70213-E7F1-9920-B0F0-F3CAF1802D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00" t="31000" r="13400" b="31200"/>
          <a:stretch/>
        </p:blipFill>
        <p:spPr>
          <a:xfrm>
            <a:off x="133350" y="6286578"/>
            <a:ext cx="866775" cy="447597"/>
          </a:xfrm>
          <a:prstGeom prst="rect">
            <a:avLst/>
          </a:prstGeom>
        </p:spPr>
      </p:pic>
      <p:sp>
        <p:nvSpPr>
          <p:cNvPr id="8" name="Titre 7">
            <a:extLst>
              <a:ext uri="{FF2B5EF4-FFF2-40B4-BE49-F238E27FC236}">
                <a16:creationId xmlns:a16="http://schemas.microsoft.com/office/drawing/2014/main" id="{90D989FB-195C-B190-FE93-B3BAF22F9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240" y="457200"/>
            <a:ext cx="10177000" cy="1000408"/>
          </a:xfrm>
        </p:spPr>
        <p:txBody>
          <a:bodyPr/>
          <a:lstStyle/>
          <a:p>
            <a:r>
              <a:rPr lang="fr-FR" sz="3200" dirty="0"/>
              <a:t>Créer les répertoires et définir les permissions </a:t>
            </a:r>
            <a:r>
              <a:rPr lang="fr-FR" sz="1000" dirty="0"/>
              <a:t>:</a:t>
            </a:r>
            <a:endParaRPr lang="fr-FR" sz="32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EA9505A-EC9B-DF84-A274-4714F35945D2}"/>
              </a:ext>
            </a:extLst>
          </p:cNvPr>
          <p:cNvSpPr txBox="1"/>
          <p:nvPr/>
        </p:nvSpPr>
        <p:spPr>
          <a:xfrm>
            <a:off x="10456752" y="6464981"/>
            <a:ext cx="173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Castro Nathan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864E395-3D5A-862E-95AC-A6C550A81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6907" y="3266669"/>
            <a:ext cx="5217332" cy="605424"/>
          </a:xfrm>
          <a:prstGeom prst="rect">
            <a:avLst/>
          </a:prstGeom>
        </p:spPr>
      </p:pic>
      <p:pic>
        <p:nvPicPr>
          <p:cNvPr id="9" name="Image 8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2BE9CB2B-751F-18A4-115C-CCBE78FC55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5471" y="2277524"/>
            <a:ext cx="5878768" cy="50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65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BB575-B446-B9CD-24B4-6F2BED4CB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B8A1E976-5169-1064-D7D6-2BDDCA825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761" y="2335795"/>
            <a:ext cx="9936478" cy="182880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2400" dirty="0" err="1"/>
              <a:t>sudo</a:t>
            </a:r>
            <a:r>
              <a:rPr lang="fr-FR" sz="2400" dirty="0"/>
              <a:t> </a:t>
            </a:r>
            <a:r>
              <a:rPr lang="fr-FR" sz="2400" dirty="0" err="1"/>
              <a:t>apt</a:t>
            </a:r>
            <a:r>
              <a:rPr lang="fr-FR" sz="2400" dirty="0"/>
              <a:t> update</a:t>
            </a:r>
          </a:p>
          <a:p>
            <a:pPr rtl="0"/>
            <a:r>
              <a:rPr lang="fr-FR" sz="2400" dirty="0" err="1"/>
              <a:t>sudo</a:t>
            </a:r>
            <a:r>
              <a:rPr lang="fr-FR" sz="2400" dirty="0"/>
              <a:t> </a:t>
            </a:r>
            <a:r>
              <a:rPr lang="fr-FR" sz="2400" dirty="0" err="1"/>
              <a:t>apt</a:t>
            </a:r>
            <a:r>
              <a:rPr lang="fr-FR" sz="2400" dirty="0"/>
              <a:t> upgrade</a:t>
            </a:r>
          </a:p>
          <a:p>
            <a:pPr rtl="0"/>
            <a:r>
              <a:rPr lang="fr-FR" sz="2400" dirty="0" err="1"/>
              <a:t>sudo</a:t>
            </a:r>
            <a:r>
              <a:rPr lang="fr-FR" sz="2400" dirty="0"/>
              <a:t> reboot</a:t>
            </a:r>
          </a:p>
          <a:p>
            <a:pPr rtl="0"/>
            <a:r>
              <a:rPr lang="fr-FR" sz="2400" dirty="0" err="1"/>
              <a:t>sudo</a:t>
            </a:r>
            <a:r>
              <a:rPr lang="fr-FR" sz="2400" dirty="0"/>
              <a:t> </a:t>
            </a:r>
            <a:r>
              <a:rPr lang="fr-FR" sz="2400" dirty="0" err="1"/>
              <a:t>apt</a:t>
            </a:r>
            <a:r>
              <a:rPr lang="fr-FR" sz="2400" dirty="0"/>
              <a:t> </a:t>
            </a:r>
            <a:r>
              <a:rPr lang="fr-FR" sz="2400" dirty="0" err="1"/>
              <a:t>install</a:t>
            </a:r>
            <a:r>
              <a:rPr lang="fr-FR" sz="2400" dirty="0"/>
              <a:t> samba samba-doc </a:t>
            </a:r>
            <a:r>
              <a:rPr lang="fr-FR" sz="2400" dirty="0" err="1"/>
              <a:t>smbclient</a:t>
            </a:r>
            <a:endParaRPr lang="fr-FR" sz="2400" dirty="0"/>
          </a:p>
          <a:p>
            <a:pPr rtl="0"/>
            <a:endParaRPr lang="fr-FR" sz="2400" dirty="0"/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9010C5A4-909C-3506-19F9-5E7D11DE35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00" t="31000" r="13400" b="31200"/>
          <a:stretch/>
        </p:blipFill>
        <p:spPr>
          <a:xfrm>
            <a:off x="133350" y="6286578"/>
            <a:ext cx="866775" cy="447597"/>
          </a:xfrm>
          <a:prstGeom prst="rect">
            <a:avLst/>
          </a:prstGeom>
        </p:spPr>
      </p:pic>
      <p:sp>
        <p:nvSpPr>
          <p:cNvPr id="8" name="Titre 7">
            <a:extLst>
              <a:ext uri="{FF2B5EF4-FFF2-40B4-BE49-F238E27FC236}">
                <a16:creationId xmlns:a16="http://schemas.microsoft.com/office/drawing/2014/main" id="{67629D2C-AF20-D68D-2080-83C49AE22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240" y="457200"/>
            <a:ext cx="10177000" cy="1000408"/>
          </a:xfrm>
        </p:spPr>
        <p:txBody>
          <a:bodyPr/>
          <a:lstStyle/>
          <a:p>
            <a:r>
              <a:rPr lang="fr-FR" sz="4000" dirty="0"/>
              <a:t>Mettre à jour et installer Samba :</a:t>
            </a:r>
            <a:endParaRPr lang="fr-FR" sz="115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F13F837-2E0C-6BA4-C25C-AEEA72EC9D2F}"/>
              </a:ext>
            </a:extLst>
          </p:cNvPr>
          <p:cNvSpPr txBox="1"/>
          <p:nvPr/>
        </p:nvSpPr>
        <p:spPr>
          <a:xfrm>
            <a:off x="10456752" y="6464981"/>
            <a:ext cx="173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Castro Nathan</a:t>
            </a:r>
          </a:p>
        </p:txBody>
      </p:sp>
    </p:spTree>
    <p:extLst>
      <p:ext uri="{BB962C8B-B14F-4D97-AF65-F5344CB8AC3E}">
        <p14:creationId xmlns:p14="http://schemas.microsoft.com/office/powerpoint/2010/main" val="3960564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56EEF-B8E7-CF55-FC8E-52B4716E3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DA13C5FF-10A8-00AB-DA7D-103B89CAE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762" y="2271626"/>
            <a:ext cx="9936478" cy="345540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2400" dirty="0" err="1"/>
              <a:t>sudo</a:t>
            </a:r>
            <a:r>
              <a:rPr lang="fr-FR" sz="2400" dirty="0"/>
              <a:t> </a:t>
            </a:r>
            <a:r>
              <a:rPr lang="fr-FR" sz="2400" dirty="0" err="1"/>
              <a:t>cp</a:t>
            </a:r>
            <a:r>
              <a:rPr lang="fr-FR" sz="2400" dirty="0"/>
              <a:t> /</a:t>
            </a:r>
            <a:r>
              <a:rPr lang="fr-FR" sz="2400" dirty="0" err="1"/>
              <a:t>etc</a:t>
            </a:r>
            <a:r>
              <a:rPr lang="fr-FR" sz="2400" dirty="0"/>
              <a:t>/samba/</a:t>
            </a:r>
            <a:r>
              <a:rPr lang="fr-FR" sz="2400" dirty="0" err="1"/>
              <a:t>smb.conf</a:t>
            </a:r>
            <a:r>
              <a:rPr lang="fr-FR" sz="2400" dirty="0"/>
              <a:t> /</a:t>
            </a:r>
            <a:r>
              <a:rPr lang="fr-FR" sz="2400" dirty="0" err="1"/>
              <a:t>etc</a:t>
            </a:r>
            <a:r>
              <a:rPr lang="fr-FR" sz="2400" dirty="0"/>
              <a:t>/samba/</a:t>
            </a:r>
            <a:r>
              <a:rPr lang="fr-FR" sz="2400" dirty="0" err="1"/>
              <a:t>smb.conf.old</a:t>
            </a:r>
            <a:endParaRPr lang="fr-FR" sz="2400" dirty="0"/>
          </a:p>
          <a:p>
            <a:pPr rtl="0"/>
            <a:r>
              <a:rPr lang="fr-FR" sz="2400" dirty="0" err="1"/>
              <a:t>sudo</a:t>
            </a:r>
            <a:r>
              <a:rPr lang="fr-FR" sz="2400" dirty="0"/>
              <a:t> nano /</a:t>
            </a:r>
            <a:r>
              <a:rPr lang="fr-FR" sz="2400" dirty="0" err="1"/>
              <a:t>etc</a:t>
            </a:r>
            <a:r>
              <a:rPr lang="fr-FR" sz="2400" dirty="0"/>
              <a:t>/samba/</a:t>
            </a:r>
            <a:r>
              <a:rPr lang="fr-FR" sz="2400" dirty="0" err="1"/>
              <a:t>smb.conf</a:t>
            </a:r>
            <a:endParaRPr lang="fr-FR" sz="2400" dirty="0"/>
          </a:p>
          <a:p>
            <a:pPr rtl="0"/>
            <a:endParaRPr lang="fr-FR" sz="2400" dirty="0"/>
          </a:p>
          <a:p>
            <a:pPr rtl="0"/>
            <a:r>
              <a:rPr lang="fr-FR" sz="1400" b="1" dirty="0"/>
              <a:t>Ajouter les partages « homes », « bal », « </a:t>
            </a:r>
            <a:r>
              <a:rPr lang="fr-FR" sz="1400" b="1" dirty="0" err="1"/>
              <a:t>etu</a:t>
            </a:r>
            <a:r>
              <a:rPr lang="fr-FR" sz="1400" b="1" dirty="0"/>
              <a:t> »</a:t>
            </a:r>
          </a:p>
          <a:p>
            <a:pPr rtl="0"/>
            <a:endParaRPr lang="fr-FR" sz="2400" b="1" dirty="0"/>
          </a:p>
          <a:p>
            <a:pPr rtl="0"/>
            <a:r>
              <a:rPr lang="en-US" sz="2400" dirty="0"/>
              <a:t>[</a:t>
            </a:r>
            <a:r>
              <a:rPr lang="en-US" sz="2400" dirty="0" err="1"/>
              <a:t>bal</a:t>
            </a:r>
            <a:r>
              <a:rPr lang="en-US" sz="2400" dirty="0"/>
              <a:t>]</a:t>
            </a:r>
          </a:p>
          <a:p>
            <a:pPr rtl="0"/>
            <a:r>
              <a:rPr lang="en-US" sz="2400" dirty="0"/>
              <a:t>path = /home/archives</a:t>
            </a:r>
          </a:p>
          <a:p>
            <a:pPr rtl="0"/>
            <a:r>
              <a:rPr lang="en-US" sz="2400" dirty="0"/>
              <a:t>read only = no</a:t>
            </a:r>
          </a:p>
          <a:p>
            <a:pPr rtl="0"/>
            <a:r>
              <a:rPr lang="en-US" sz="2400" dirty="0"/>
              <a:t>write list = @profs</a:t>
            </a:r>
          </a:p>
          <a:p>
            <a:pPr rtl="0"/>
            <a:endParaRPr lang="fr-FR" sz="2400" dirty="0"/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6AB34069-21E7-A064-8951-B14CEDC987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00" t="31000" r="13400" b="31200"/>
          <a:stretch/>
        </p:blipFill>
        <p:spPr>
          <a:xfrm>
            <a:off x="133350" y="6286578"/>
            <a:ext cx="866775" cy="447597"/>
          </a:xfrm>
          <a:prstGeom prst="rect">
            <a:avLst/>
          </a:prstGeom>
        </p:spPr>
      </p:pic>
      <p:sp>
        <p:nvSpPr>
          <p:cNvPr id="8" name="Titre 7">
            <a:extLst>
              <a:ext uri="{FF2B5EF4-FFF2-40B4-BE49-F238E27FC236}">
                <a16:creationId xmlns:a16="http://schemas.microsoft.com/office/drawing/2014/main" id="{6001F419-5364-AC9B-7FE3-3BF6CEB77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240" y="457200"/>
            <a:ext cx="10177000" cy="1000408"/>
          </a:xfrm>
        </p:spPr>
        <p:txBody>
          <a:bodyPr/>
          <a:lstStyle/>
          <a:p>
            <a:r>
              <a:rPr lang="fr-FR" sz="4400" dirty="0"/>
              <a:t>Configurer Samba </a:t>
            </a:r>
            <a:r>
              <a:rPr lang="fr-FR" sz="1050" dirty="0"/>
              <a:t>:</a:t>
            </a:r>
            <a:endParaRPr lang="fr-FR" sz="36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AFF5314-1982-A51A-D41C-AECE3C4B1C4E}"/>
              </a:ext>
            </a:extLst>
          </p:cNvPr>
          <p:cNvSpPr txBox="1"/>
          <p:nvPr/>
        </p:nvSpPr>
        <p:spPr>
          <a:xfrm>
            <a:off x="10456752" y="6464981"/>
            <a:ext cx="173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Castro Nathan</a:t>
            </a:r>
          </a:p>
        </p:txBody>
      </p:sp>
    </p:spTree>
    <p:extLst>
      <p:ext uri="{BB962C8B-B14F-4D97-AF65-F5344CB8AC3E}">
        <p14:creationId xmlns:p14="http://schemas.microsoft.com/office/powerpoint/2010/main" val="2256200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A884F-7FEE-FE14-7C90-043FDC024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32DEFB5D-FD3C-0306-C1DC-35D60A446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761" y="1966463"/>
            <a:ext cx="9936478" cy="359978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2400" dirty="0" err="1"/>
              <a:t>sudo</a:t>
            </a:r>
            <a:r>
              <a:rPr lang="fr-FR" sz="2400" dirty="0"/>
              <a:t> </a:t>
            </a:r>
            <a:r>
              <a:rPr lang="fr-FR" sz="2400" dirty="0" err="1"/>
              <a:t>smbpasswd</a:t>
            </a:r>
            <a:r>
              <a:rPr lang="fr-FR" sz="2400" dirty="0"/>
              <a:t> -a maxime</a:t>
            </a:r>
          </a:p>
          <a:p>
            <a:pPr rtl="0"/>
            <a:r>
              <a:rPr lang="fr-FR" sz="2400" dirty="0" err="1"/>
              <a:t>sudo</a:t>
            </a:r>
            <a:r>
              <a:rPr lang="fr-FR" sz="2400" dirty="0"/>
              <a:t> </a:t>
            </a:r>
            <a:r>
              <a:rPr lang="fr-FR" sz="2400" dirty="0" err="1"/>
              <a:t>smbpasswd</a:t>
            </a:r>
            <a:r>
              <a:rPr lang="fr-FR" sz="2400" dirty="0"/>
              <a:t> -a </a:t>
            </a:r>
            <a:r>
              <a:rPr lang="fr-FR" sz="2400" dirty="0" err="1"/>
              <a:t>arnaud</a:t>
            </a:r>
            <a:endParaRPr lang="fr-FR" sz="2400" dirty="0"/>
          </a:p>
          <a:p>
            <a:pPr rtl="0"/>
            <a:r>
              <a:rPr lang="fr-FR" sz="2400" dirty="0" err="1"/>
              <a:t>sudo</a:t>
            </a:r>
            <a:r>
              <a:rPr lang="fr-FR" sz="2400" dirty="0"/>
              <a:t> </a:t>
            </a:r>
            <a:r>
              <a:rPr lang="fr-FR" sz="2400" dirty="0" err="1"/>
              <a:t>smbpasswd</a:t>
            </a:r>
            <a:r>
              <a:rPr lang="fr-FR" sz="2400" dirty="0"/>
              <a:t> -a etu1</a:t>
            </a:r>
          </a:p>
          <a:p>
            <a:pPr rtl="0"/>
            <a:r>
              <a:rPr lang="fr-FR" sz="2400" dirty="0" err="1"/>
              <a:t>sudo</a:t>
            </a:r>
            <a:r>
              <a:rPr lang="fr-FR" sz="2400" dirty="0"/>
              <a:t> </a:t>
            </a:r>
            <a:r>
              <a:rPr lang="fr-FR" sz="2400" dirty="0" err="1"/>
              <a:t>smbpasswd</a:t>
            </a:r>
            <a:r>
              <a:rPr lang="fr-FR" sz="2400" dirty="0"/>
              <a:t> -a etu2</a:t>
            </a:r>
          </a:p>
          <a:p>
            <a:pPr rtl="0"/>
            <a:r>
              <a:rPr lang="fr-FR" sz="2400" dirty="0" err="1"/>
              <a:t>sudo</a:t>
            </a:r>
            <a:r>
              <a:rPr lang="fr-FR" sz="2400" dirty="0"/>
              <a:t> </a:t>
            </a:r>
            <a:r>
              <a:rPr lang="fr-FR" sz="2400" dirty="0" err="1"/>
              <a:t>smbpasswd</a:t>
            </a:r>
            <a:r>
              <a:rPr lang="fr-FR" sz="2400" dirty="0"/>
              <a:t> -a etu3</a:t>
            </a:r>
          </a:p>
          <a:p>
            <a:pPr rtl="0"/>
            <a:r>
              <a:rPr lang="fr-FR" sz="2400" dirty="0" err="1"/>
              <a:t>sudo</a:t>
            </a:r>
            <a:r>
              <a:rPr lang="fr-FR" sz="2400" dirty="0"/>
              <a:t> </a:t>
            </a:r>
            <a:r>
              <a:rPr lang="fr-FR" sz="2400" dirty="0" err="1"/>
              <a:t>smbpasswd</a:t>
            </a:r>
            <a:r>
              <a:rPr lang="fr-FR" sz="2400" dirty="0"/>
              <a:t> -a etu4</a:t>
            </a:r>
          </a:p>
          <a:p>
            <a:pPr rtl="0"/>
            <a:r>
              <a:rPr lang="fr-FR" sz="2400" dirty="0" err="1"/>
              <a:t>sudo</a:t>
            </a:r>
            <a:r>
              <a:rPr lang="fr-FR" sz="2400" dirty="0"/>
              <a:t> </a:t>
            </a:r>
            <a:r>
              <a:rPr lang="fr-FR" sz="2400" dirty="0" err="1"/>
              <a:t>smbpasswd</a:t>
            </a:r>
            <a:r>
              <a:rPr lang="fr-FR" sz="2400" dirty="0"/>
              <a:t> -a admin-</a:t>
            </a:r>
            <a:r>
              <a:rPr lang="fr-FR" sz="2400" dirty="0" err="1"/>
              <a:t>sio</a:t>
            </a:r>
            <a:endParaRPr lang="fr-FR" sz="2400" dirty="0"/>
          </a:p>
          <a:p>
            <a:pPr rtl="0"/>
            <a:r>
              <a:rPr lang="fr-FR" sz="2400" dirty="0" err="1"/>
              <a:t>pdbedit</a:t>
            </a:r>
            <a:r>
              <a:rPr lang="fr-FR" sz="2400" dirty="0"/>
              <a:t> -L</a:t>
            </a:r>
          </a:p>
          <a:p>
            <a:pPr rtl="0"/>
            <a:endParaRPr lang="fr-FR" sz="2400" dirty="0"/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4055578B-053F-F733-FC3E-BC4D4BEBE2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00" t="31000" r="13400" b="31200"/>
          <a:stretch/>
        </p:blipFill>
        <p:spPr>
          <a:xfrm>
            <a:off x="133350" y="6286578"/>
            <a:ext cx="866775" cy="447597"/>
          </a:xfrm>
          <a:prstGeom prst="rect">
            <a:avLst/>
          </a:prstGeom>
        </p:spPr>
      </p:pic>
      <p:sp>
        <p:nvSpPr>
          <p:cNvPr id="8" name="Titre 7">
            <a:extLst>
              <a:ext uri="{FF2B5EF4-FFF2-40B4-BE49-F238E27FC236}">
                <a16:creationId xmlns:a16="http://schemas.microsoft.com/office/drawing/2014/main" id="{F539129B-49BC-C935-A284-DB59574A2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788" y="457200"/>
            <a:ext cx="10177000" cy="1000408"/>
          </a:xfrm>
        </p:spPr>
        <p:txBody>
          <a:bodyPr/>
          <a:lstStyle/>
          <a:p>
            <a:r>
              <a:rPr lang="fr-FR" sz="4400" dirty="0"/>
              <a:t>Ajouter les utilisateurs Samba 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05514A0-FDD3-0407-662F-1EDE5B37DE52}"/>
              </a:ext>
            </a:extLst>
          </p:cNvPr>
          <p:cNvSpPr txBox="1"/>
          <p:nvPr/>
        </p:nvSpPr>
        <p:spPr>
          <a:xfrm>
            <a:off x="10456752" y="6464981"/>
            <a:ext cx="173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Castro Nathan</a:t>
            </a:r>
          </a:p>
        </p:txBody>
      </p:sp>
    </p:spTree>
    <p:extLst>
      <p:ext uri="{BB962C8B-B14F-4D97-AF65-F5344CB8AC3E}">
        <p14:creationId xmlns:p14="http://schemas.microsoft.com/office/powerpoint/2010/main" val="1635007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A12A7-9CDD-013D-EAE2-00DAD5116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2ABFFCA2-8FC5-E4F7-BEDB-DA4148253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761" y="2335795"/>
            <a:ext cx="9936478" cy="182880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sz="2400" dirty="0"/>
          </a:p>
        </p:txBody>
      </p:sp>
      <p:pic>
        <p:nvPicPr>
          <p:cNvPr id="4" name="Image 3" descr="Une image contenant capture d’écran, Graphique, Police, symbole&#10;&#10;Description générée automatiquement">
            <a:extLst>
              <a:ext uri="{FF2B5EF4-FFF2-40B4-BE49-F238E27FC236}">
                <a16:creationId xmlns:a16="http://schemas.microsoft.com/office/drawing/2014/main" id="{1A699061-14EB-85EA-51A9-4D41272E92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00" t="31000" r="13400" b="31200"/>
          <a:stretch/>
        </p:blipFill>
        <p:spPr>
          <a:xfrm>
            <a:off x="133350" y="6286578"/>
            <a:ext cx="866775" cy="447597"/>
          </a:xfrm>
          <a:prstGeom prst="rect">
            <a:avLst/>
          </a:prstGeom>
        </p:spPr>
      </p:pic>
      <p:sp>
        <p:nvSpPr>
          <p:cNvPr id="8" name="Titre 7">
            <a:extLst>
              <a:ext uri="{FF2B5EF4-FFF2-40B4-BE49-F238E27FC236}">
                <a16:creationId xmlns:a16="http://schemas.microsoft.com/office/drawing/2014/main" id="{0A7A86B3-D29B-0A21-75DB-852F36EE4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240" y="457200"/>
            <a:ext cx="10177000" cy="1000408"/>
          </a:xfrm>
        </p:spPr>
        <p:txBody>
          <a:bodyPr/>
          <a:lstStyle/>
          <a:p>
            <a:r>
              <a:rPr lang="fr-FR" sz="4000" dirty="0"/>
              <a:t>Tester les partages en local 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4A245D1-2E4A-B0E8-A655-93D48180124E}"/>
              </a:ext>
            </a:extLst>
          </p:cNvPr>
          <p:cNvSpPr txBox="1"/>
          <p:nvPr/>
        </p:nvSpPr>
        <p:spPr>
          <a:xfrm>
            <a:off x="10456752" y="6464981"/>
            <a:ext cx="1735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Castro Nathan</a:t>
            </a:r>
          </a:p>
        </p:txBody>
      </p:sp>
      <p:pic>
        <p:nvPicPr>
          <p:cNvPr id="6" name="Image 5" descr="Une image contenant capture d’écran, texte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9293A098-D042-FC1C-FF62-53535AD59F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8893" b="27468"/>
          <a:stretch/>
        </p:blipFill>
        <p:spPr>
          <a:xfrm>
            <a:off x="4832386" y="1829582"/>
            <a:ext cx="6231853" cy="3198835"/>
          </a:xfrm>
          <a:prstGeom prst="rect">
            <a:avLst/>
          </a:prstGeom>
        </p:spPr>
      </p:pic>
      <p:pic>
        <p:nvPicPr>
          <p:cNvPr id="9" name="Image 8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A78EE978-B693-FE8F-393A-DF3407832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1651066"/>
            <a:ext cx="3470691" cy="3554969"/>
          </a:xfrm>
          <a:prstGeom prst="rect">
            <a:avLst/>
          </a:prstGeom>
        </p:spPr>
      </p:pic>
      <p:pic>
        <p:nvPicPr>
          <p:cNvPr id="11" name="Image 10" descr="Une image contenant capture d’écran, texte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70C9DFC5-C0D7-C5DD-ECFA-089FF0ABAA9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0329"/>
          <a:stretch/>
        </p:blipFill>
        <p:spPr>
          <a:xfrm>
            <a:off x="1268438" y="5347900"/>
            <a:ext cx="6728720" cy="115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424821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354_TF45331398_Win32" id="{C5EE15C2-F5A4-4765-8CC2-D658FE393FBC}" vid="{03207F67-BCF6-498B-8870-4FA7CB04C4B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Présentation universelle</Template>
  <TotalTime>550</TotalTime>
  <Words>389</Words>
  <Application>Microsoft Office PowerPoint</Application>
  <PresentationFormat>Grand écran</PresentationFormat>
  <Paragraphs>98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Tenorite</vt:lpstr>
      <vt:lpstr>Personnalisé</vt:lpstr>
      <vt:lpstr>TP–Samba</vt:lpstr>
      <vt:lpstr>Sommaire</vt:lpstr>
      <vt:lpstr>Configurer le hostname</vt:lpstr>
      <vt:lpstr>testparm</vt:lpstr>
      <vt:lpstr>testparm</vt:lpstr>
      <vt:lpstr>Créer les groupes</vt:lpstr>
      <vt:lpstr>Créer les utilisateurs et les ajouter aux groupes</vt:lpstr>
      <vt:lpstr>Créer les répertoires et définir les permissions :</vt:lpstr>
      <vt:lpstr>Mettre à jour et installer Samba :</vt:lpstr>
      <vt:lpstr>Configurer Samba :</vt:lpstr>
      <vt:lpstr>Ajouter les utilisateurs Samba :</vt:lpstr>
      <vt:lpstr>Tester les partages en local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CASTRO</dc:creator>
  <cp:lastModifiedBy>Nathan Castro</cp:lastModifiedBy>
  <cp:revision>9</cp:revision>
  <dcterms:created xsi:type="dcterms:W3CDTF">2024-11-15T07:14:39Z</dcterms:created>
  <dcterms:modified xsi:type="dcterms:W3CDTF">2025-03-07T08:15:58Z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